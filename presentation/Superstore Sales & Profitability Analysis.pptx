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94550-6CAD-5F85-969A-E7ACE1C173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06B8E9-6986-A0AD-B61C-24B8E3C0EC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7EBF9-4BCF-C13E-2FF4-FD5FBDFA6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D99A6-8816-4B5B-848B-77D74DC3A91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C7752-7E81-ADBC-367C-D9C1A18C4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82C42-3C9C-35A0-9079-05A67C4D3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A287-EEE1-4D99-AD99-7BA9079144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15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FBB4F-6E20-7A1A-15B5-0F081B297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1F788-B0B7-619E-34DE-2161C9B30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1A4DC-4789-413A-5E8A-551F7D41C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D99A6-8816-4B5B-848B-77D74DC3A91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F7B2F-AB4D-DB8D-F817-1FCA996BE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9672A-9497-BD44-9535-678119FC9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A287-EEE1-4D99-AD99-7BA9079144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120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C9CE1-7D60-F1EF-23D8-51A4F9D18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3434C4-CE40-F9FB-2C1F-0BCD2EE09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D160F-FB72-14AE-4460-4DB9800FF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D99A6-8816-4B5B-848B-77D74DC3A91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BBC09-C6F3-F959-CD49-9FF553F83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AEBB4-25B8-EF83-898B-F40213ECB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A287-EEE1-4D99-AD99-7BA9079144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676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7285D-49B9-4582-2ECB-5AEC221F1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E3028-FB0F-1557-3096-F3C19E39B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5D204F-210E-B57B-39D1-0126548AB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CC4CBF-EC72-9705-099F-5DBA5BA61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D99A6-8816-4B5B-848B-77D74DC3A91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77C00-14A0-8F32-A36F-DD3D49006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B3BCD5-9FC8-D189-3C3A-BEF160C39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A287-EEE1-4D99-AD99-7BA9079144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640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A214-9C45-1457-D4E7-1BF443A6A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FD1A1-4542-5DD4-22DF-F45E6A6592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7FF5DA-41F4-80D8-4C65-C4F624059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669B04-B5D4-268B-A05C-FE737B642A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01B1F6-5810-3C10-AE0D-698EFB0986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7C00CB-1AAD-D7F6-010F-A93245495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D99A6-8816-4B5B-848B-77D74DC3A91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2AFBB1-82E6-9905-2450-642F1A2F6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964DAB-9D4B-8AA7-F420-2560603E2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A287-EEE1-4D99-AD99-7BA9079144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909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8091C-0ED8-611F-3E0E-1FACF2595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C87395-58C5-6E3C-C304-FD8596CD8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D99A6-8816-4B5B-848B-77D74DC3A91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F4BBCF-88F9-950F-1BEE-832800BD5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D8C739-57E8-61D5-8C49-13ECBF113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A287-EEE1-4D99-AD99-7BA9079144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260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8FF49C-9806-C4B6-1F24-1AFBD931F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D99A6-8816-4B5B-848B-77D74DC3A91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E6A379-A160-75FE-B6BA-A9DCD4403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B7EEB8-7BE4-E955-48B2-F59FFB200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A287-EEE1-4D99-AD99-7BA9079144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541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623AC-5510-C93D-FAF8-0034FBDFE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8CB36-835A-172C-534B-D4210C081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50E33D-1165-DB4A-38D0-7D2035328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DCEA88-16F5-0DA2-D150-0E565557A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D99A6-8816-4B5B-848B-77D74DC3A91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B01C8-F674-15B4-4B34-6C196E9E9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1E819-C688-7789-2D3E-195E94B1F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A287-EEE1-4D99-AD99-7BA9079144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24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5386A-E52C-7803-74B3-1918DB378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821E77-4085-AE3E-4C81-79C9B13673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25ACC9-7D9B-6B99-BF71-D4BDE8F5D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6A9AF7-86AF-444B-F6E8-70DF4FADD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D99A6-8816-4B5B-848B-77D74DC3A91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5E705-29F3-0A9A-18B0-F58A43161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72ED1-0000-7250-6AF1-943954C5A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A287-EEE1-4D99-AD99-7BA9079144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76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CCEAE-45DD-15E6-BDD8-17A39BDD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D7F828-87B9-A12F-B694-3BD3F08F76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B07AB-4EFB-5ABF-AACA-027585584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D99A6-8816-4B5B-848B-77D74DC3A91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3FE06-AB77-6FF3-DBB9-5A07A5365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DA121-9A56-0560-5C75-6C424FFFA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A287-EEE1-4D99-AD99-7BA9079144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189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48460-30A9-F86B-E736-D16D4CB00F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FC2C2E-118A-6338-E7E7-8296677E6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E39266-785C-82A3-2993-E894644F2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D99A6-8816-4B5B-848B-77D74DC3A91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44BDE-356A-388E-F5CF-DD1B2CB31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61E9B-43FB-2A9D-94B5-25974D7846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A287-EEE1-4D99-AD99-7BA9079144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189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196F97-DE2D-B17B-C8BD-F078FD0FD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B55039-89C3-5B96-E6CE-46FD7C5F0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FD850-2ADE-67FA-3701-074D1C9EE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0D99A6-8816-4B5B-848B-77D74DC3A91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0B9E5-10EB-58FD-E66E-9DC61FFB01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76DFC-DA8A-3B4B-6447-E56AEFD371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A287-EEE1-4D99-AD99-7BA9079144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739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0wuR5qiMwlymumdlI-Ib7KE5r9KsQtO9/view?usp=drive_link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61CF4-DEED-4276-3881-507930625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1520" y="441960"/>
            <a:ext cx="10688320" cy="3926840"/>
          </a:xfrm>
        </p:spPr>
        <p:txBody>
          <a:bodyPr>
            <a:noAutofit/>
          </a:bodyPr>
          <a:lstStyle/>
          <a:p>
            <a:pPr algn="l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Superstore Sales &amp; Profitability Analysis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6 Capstone Project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Git, GitHub &amp; Final Data Analytics Project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6D3B95-3BB8-AB2D-7D08-B4B75D1393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75840" y="4643120"/>
            <a:ext cx="9144000" cy="1564640"/>
          </a:xfrm>
        </p:spPr>
        <p:txBody>
          <a:bodyPr>
            <a:normAutofit/>
          </a:bodyPr>
          <a:lstStyle/>
          <a:p>
            <a:pPr algn="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Nunna Bhuvana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133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1BADB3-E081-9CED-A7DE-851049790A37}"/>
              </a:ext>
            </a:extLst>
          </p:cNvPr>
          <p:cNvSpPr txBox="1"/>
          <p:nvPr/>
        </p:nvSpPr>
        <p:spPr>
          <a:xfrm>
            <a:off x="619760" y="552440"/>
            <a:ext cx="1023112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Project Overview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Superstore retail dataset to understand sales performance, profitability, customer segments, regional performance and product performance.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Objectives</a:t>
            </a: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and profit performance.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 and low-performing products.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regional and customer-segment performance.</a:t>
            </a:r>
          </a:p>
          <a:p>
            <a:pPr lvl="0"/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sales trends over time.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the relationship between discounts and profit.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 interactive Power BI dashboard.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data-driven business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910517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949FA8-D65E-C6D8-1419-CFE785E6D7F3}"/>
              </a:ext>
            </a:extLst>
          </p:cNvPr>
          <p:cNvSpPr txBox="1"/>
          <p:nvPr/>
        </p:nvSpPr>
        <p:spPr>
          <a:xfrm>
            <a:off x="441960" y="381844"/>
            <a:ext cx="11308080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Dataset</a:t>
            </a:r>
          </a:p>
          <a:p>
            <a:endParaRPr lang="en-I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Superstore Dataset Final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Domain: </a:t>
            </a: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Retail / Sales Analytics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Key Data Fields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Order and shipping dates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Customer information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Product information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Category and sub-category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Sales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Quantity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Discount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Profit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Region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Customer segment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Link: </a:t>
            </a: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  <a:hlinkClick r:id="rId2"/>
              </a:rPr>
              <a:t>https://drive.google.com/file/d/10wuR5qiMwlymumdlI-Ib7KE5r9KsQtO9/view?usp=drive_link</a:t>
            </a:r>
            <a:endParaRPr lang="en-IN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lvl="0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5431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1E322C-A946-2567-77F8-FAB0874716D6}"/>
              </a:ext>
            </a:extLst>
          </p:cNvPr>
          <p:cNvSpPr txBox="1"/>
          <p:nvPr/>
        </p:nvSpPr>
        <p:spPr>
          <a:xfrm>
            <a:off x="538480" y="247352"/>
            <a:ext cx="1068832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Data Preparation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prepared using Python and Pandas.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Data Preparation Steps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Inspected dataset structure and columns.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data types.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missing values.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duplicate records.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Order Date and Ship Date to datetime format.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Year and Month fields.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Year-Month for time-series analysis.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Shipping Days.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numerical variables and unusual values.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the cleaned dataset for further analysis.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914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E5CEE36-189D-CA93-53A1-F6501BDD8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2732"/>
              </p:ext>
            </p:extLst>
          </p:nvPr>
        </p:nvGraphicFramePr>
        <p:xfrm>
          <a:off x="589280" y="1369854"/>
          <a:ext cx="1076452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74448">
                  <a:extLst>
                    <a:ext uri="{9D8B030D-6E8A-4147-A177-3AD203B41FA5}">
                      <a16:colId xmlns:a16="http://schemas.microsoft.com/office/drawing/2014/main" val="593939527"/>
                    </a:ext>
                  </a:extLst>
                </a:gridCol>
                <a:gridCol w="5390072">
                  <a:extLst>
                    <a:ext uri="{9D8B030D-6E8A-4147-A177-3AD203B41FA5}">
                      <a16:colId xmlns:a16="http://schemas.microsoft.com/office/drawing/2014/main" val="8068003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Result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8796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Sales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$2,297,200.86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1288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Profit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$286,397.02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239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5,009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49318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Total 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793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6087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Total Quantity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>
                          <a:effectLst/>
                        </a:rPr>
                        <a:t>37,873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5697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Profit Margin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>
                          <a:effectLst/>
                        </a:rPr>
                        <a:t>12.47%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392130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DD9B4BF-AB7E-EAEF-3EE5-4C632C644147}"/>
              </a:ext>
            </a:extLst>
          </p:cNvPr>
          <p:cNvSpPr txBox="1"/>
          <p:nvPr/>
        </p:nvSpPr>
        <p:spPr>
          <a:xfrm>
            <a:off x="589280" y="732046"/>
            <a:ext cx="6233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Overall Business Performance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009E62-A454-2254-D5D4-390132A227C1}"/>
              </a:ext>
            </a:extLst>
          </p:cNvPr>
          <p:cNvSpPr txBox="1"/>
          <p:nvPr/>
        </p:nvSpPr>
        <p:spPr>
          <a:xfrm>
            <a:off x="518160" y="4410928"/>
            <a:ext cx="108356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Key Takeaway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business generated approximately $2.30 million in sales and $286.4 thousand in profit, achieving an overall profit margin of 12.47%.</a:t>
            </a:r>
          </a:p>
        </p:txBody>
      </p:sp>
    </p:spTree>
    <p:extLst>
      <p:ext uri="{BB962C8B-B14F-4D97-AF65-F5344CB8AC3E}">
        <p14:creationId xmlns:p14="http://schemas.microsoft.com/office/powerpoint/2010/main" val="4287168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0EABCB-4495-3397-D148-46D97054F8E2}"/>
              </a:ext>
            </a:extLst>
          </p:cNvPr>
          <p:cNvSpPr txBox="1"/>
          <p:nvPr/>
        </p:nvSpPr>
        <p:spPr>
          <a:xfrm>
            <a:off x="594360" y="434261"/>
            <a:ext cx="1100328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Key EDA Findings</a:t>
            </a:r>
          </a:p>
          <a:p>
            <a:pPr>
              <a:buNone/>
            </a:pPr>
            <a:endParaRPr lang="en-IN" sz="32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I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Category Performance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Technology was the strongest category, generating: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Sales: </a:t>
            </a: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$836,154.03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Profit: </a:t>
            </a: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$145,454.95</a:t>
            </a:r>
          </a:p>
          <a:p>
            <a:pPr lvl="0"/>
            <a:endParaRPr lang="en-IN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Regional Performance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West was the strongest region: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Sales: </a:t>
            </a: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$725,457.82</a:t>
            </a:r>
          </a:p>
          <a:p>
            <a:pPr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Profit: </a:t>
            </a: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$108,418.45</a:t>
            </a:r>
          </a:p>
          <a:p>
            <a:pPr>
              <a:buNone/>
            </a:pPr>
            <a:endParaRPr lang="en-IN" sz="24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Customer Segment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Consumer was the largest segment: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Sales: </a:t>
            </a: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$1,161,401.34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Profit: </a:t>
            </a: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$134,119.21</a:t>
            </a:r>
          </a:p>
        </p:txBody>
      </p:sp>
    </p:spTree>
    <p:extLst>
      <p:ext uri="{BB962C8B-B14F-4D97-AF65-F5344CB8AC3E}">
        <p14:creationId xmlns:p14="http://schemas.microsoft.com/office/powerpoint/2010/main" val="157210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980D4E-A9F3-B4FB-FF2F-420B1FB75A48}"/>
              </a:ext>
            </a:extLst>
          </p:cNvPr>
          <p:cNvSpPr txBox="1"/>
          <p:nvPr/>
        </p:nvSpPr>
        <p:spPr>
          <a:xfrm>
            <a:off x="640080" y="546021"/>
            <a:ext cx="962152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Product &amp; Profitability Analysis</a:t>
            </a:r>
          </a:p>
          <a:p>
            <a:pPr>
              <a:buNone/>
            </a:pPr>
            <a:endParaRPr lang="en-IN" sz="32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Most Profitable Sub-Category Copiers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Profit: </a:t>
            </a: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$55,617.82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Other Strong Sub-Categories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Phones — </a:t>
            </a: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$44,515.73 profit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Accessories — </a:t>
            </a: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$41,936.64 profit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Paper — </a:t>
            </a: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$34,053.57 profit</a:t>
            </a:r>
          </a:p>
          <a:p>
            <a:pPr lvl="0"/>
            <a:endParaRPr lang="en-IN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Major Concern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Tables generated $206,965.53 in sales but recorded a $17,725.48 loss.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Key Takeaway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High sales do not necessarily mean high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1484601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97EEAF-0771-4BFE-6FD7-66FACA0766E6}"/>
              </a:ext>
            </a:extLst>
          </p:cNvPr>
          <p:cNvSpPr txBox="1"/>
          <p:nvPr/>
        </p:nvSpPr>
        <p:spPr>
          <a:xfrm>
            <a:off x="599440" y="366623"/>
            <a:ext cx="1003808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Power BI Dashboard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 interactive Power BI dashboard provides a consolidated view of Superstore performance.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Dashboard Components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Total Sales KPI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Total Profit KPI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Total Orders KPI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Profit Margin KPI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Sales by Category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Profit by Region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Monthly Sales Trend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Sales vs Profit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Profit by Sub-Category</a:t>
            </a:r>
          </a:p>
          <a:p>
            <a:pPr lvl="0"/>
            <a:endParaRPr lang="en-IN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Interactive Filters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Year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Region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Category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Segment</a:t>
            </a:r>
          </a:p>
        </p:txBody>
      </p:sp>
    </p:spTree>
    <p:extLst>
      <p:ext uri="{BB962C8B-B14F-4D97-AF65-F5344CB8AC3E}">
        <p14:creationId xmlns:p14="http://schemas.microsoft.com/office/powerpoint/2010/main" val="359297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8D5E0F-CC92-4001-B921-3E4FDA185953}"/>
              </a:ext>
            </a:extLst>
          </p:cNvPr>
          <p:cNvSpPr txBox="1"/>
          <p:nvPr/>
        </p:nvSpPr>
        <p:spPr>
          <a:xfrm>
            <a:off x="589280" y="21053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Power BI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54216F-EA87-C8DE-CDCC-E59DDAEED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20" y="795308"/>
            <a:ext cx="11399520" cy="606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745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EEF5B8-0B44-05ED-C2C2-0B5BF5B2A255}"/>
              </a:ext>
            </a:extLst>
          </p:cNvPr>
          <p:cNvSpPr txBox="1"/>
          <p:nvPr/>
        </p:nvSpPr>
        <p:spPr>
          <a:xfrm>
            <a:off x="518160" y="426224"/>
            <a:ext cx="11196320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Business Insights &amp; Recommendations</a:t>
            </a: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Key Insights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Technology is the strongest category by sales and profit.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West is the strongest region by sales and profit.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Copiers are the most profitable sub-category.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Tables and Bookcases require profitability investigation.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Consumer customers generate the highest sales and profit.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2017 recorded the highest annual sales.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Discount and profit have a weak negative correlation of -0.219.</a:t>
            </a:r>
          </a:p>
          <a:p>
            <a:pPr lvl="0"/>
            <a:endParaRPr lang="en-IN" sz="20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Recommendations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1. Optimize pricing and discounts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Review discount levels and pricing for low-profit products.</a:t>
            </a:r>
          </a:p>
          <a:p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2. Invest in high-performing areas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Continue supporting Technology, Copiers, Phones and Accessories.</a:t>
            </a: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 Improve weaker regions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Investigate the causes of lower profitability in the Central region.</a:t>
            </a:r>
          </a:p>
        </p:txBody>
      </p:sp>
    </p:spTree>
    <p:extLst>
      <p:ext uri="{BB962C8B-B14F-4D97-AF65-F5344CB8AC3E}">
        <p14:creationId xmlns:p14="http://schemas.microsoft.com/office/powerpoint/2010/main" val="925011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72D219-9409-8264-802E-3836385A200D}"/>
              </a:ext>
            </a:extLst>
          </p:cNvPr>
          <p:cNvSpPr txBox="1"/>
          <p:nvPr/>
        </p:nvSpPr>
        <p:spPr>
          <a:xfrm>
            <a:off x="650240" y="365264"/>
            <a:ext cx="1086104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Conclusion</a:t>
            </a:r>
          </a:p>
          <a:p>
            <a:pPr>
              <a:buNone/>
            </a:pPr>
            <a:endParaRPr lang="en-IN" sz="32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The Superstore analysis provides a detailed view of sales and profitability across products, categories, regions and customer segments.</a:t>
            </a: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Main Findings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$2.30M in total sales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$286.4K in total profit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12.47% profit margin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Technology was the strongest category.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West was the strongest region.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Consumer was the largest customer segment.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Some high-sales products had negative profitability.</a:t>
            </a:r>
          </a:p>
          <a:p>
            <a:endParaRPr lang="en-IN" sz="2000" b="1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Final Takeaway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Combining Python-based analysis with an interactive Power BI dashboard helps transform raw sales data into actionable business insights and supports better data-driven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1690958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652</Words>
  <Application>Microsoft Office PowerPoint</Application>
  <PresentationFormat>Widescreen</PresentationFormat>
  <Paragraphs>151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Superstore Sales &amp; Profitability Analysis  Week 6 Capstone Project  Git, GitHub &amp; Final Data Analytics Project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Bhuvana Nunna</dc:creator>
  <cp:lastModifiedBy>Bhuvana Nunna</cp:lastModifiedBy>
  <cp:revision>1</cp:revision>
  <dcterms:created xsi:type="dcterms:W3CDTF">2026-09-10T15:15:17Z</dcterms:created>
  <dcterms:modified xsi:type="dcterms:W3CDTF">2026-09-10T15:37:38Z</dcterms:modified>
</cp:coreProperties>
</file>